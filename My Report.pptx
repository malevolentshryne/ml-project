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64" r:id="rId5"/>
    <p:sldId id="266" r:id="rId6"/>
    <p:sldId id="267" r:id="rId7"/>
    <p:sldId id="268" r:id="rId8"/>
    <p:sldId id="269" r:id="rId9"/>
    <p:sldId id="274" r:id="rId10"/>
    <p:sldId id="275" r:id="rId11"/>
    <p:sldId id="258" r:id="rId12"/>
    <p:sldId id="261" r:id="rId13"/>
    <p:sldId id="276" r:id="rId14"/>
    <p:sldId id="262" r:id="rId15"/>
    <p:sldId id="263" r:id="rId16"/>
    <p:sldId id="278" r:id="rId17"/>
    <p:sldId id="265" r:id="rId18"/>
    <p:sldId id="277" r:id="rId19"/>
    <p:sldId id="270" r:id="rId20"/>
    <p:sldId id="271" r:id="rId21"/>
    <p:sldId id="27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226" y="7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71AD-CE78-4291-AD8E-EF03F9EBAC03}" type="datetimeFigureOut">
              <a:rPr lang="en-IN" smtClean="0"/>
              <a:t>22-01-2024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DF1B6-D20E-4BD5-A770-D7BC4B904A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5995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71AD-CE78-4291-AD8E-EF03F9EBAC03}" type="datetimeFigureOut">
              <a:rPr lang="en-IN" smtClean="0"/>
              <a:t>22-01-2024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DF1B6-D20E-4BD5-A770-D7BC4B904A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0753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71AD-CE78-4291-AD8E-EF03F9EBAC03}" type="datetimeFigureOut">
              <a:rPr lang="en-IN" smtClean="0"/>
              <a:t>22-01-2024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DF1B6-D20E-4BD5-A770-D7BC4B904A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8106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71AD-CE78-4291-AD8E-EF03F9EBAC03}" type="datetimeFigureOut">
              <a:rPr lang="en-IN" smtClean="0"/>
              <a:t>22-01-2024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DF1B6-D20E-4BD5-A770-D7BC4B904A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872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71AD-CE78-4291-AD8E-EF03F9EBAC03}" type="datetimeFigureOut">
              <a:rPr lang="en-IN" smtClean="0"/>
              <a:t>22-01-2024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DF1B6-D20E-4BD5-A770-D7BC4B904A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2285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71AD-CE78-4291-AD8E-EF03F9EBAC03}" type="datetimeFigureOut">
              <a:rPr lang="en-IN" smtClean="0"/>
              <a:t>22-01-2024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DF1B6-D20E-4BD5-A770-D7BC4B904A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1986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71AD-CE78-4291-AD8E-EF03F9EBAC03}" type="datetimeFigureOut">
              <a:rPr lang="en-IN" smtClean="0"/>
              <a:t>22-01-2024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DF1B6-D20E-4BD5-A770-D7BC4B904A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9009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71AD-CE78-4291-AD8E-EF03F9EBAC03}" type="datetimeFigureOut">
              <a:rPr lang="en-IN" smtClean="0"/>
              <a:t>22-01-2024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DF1B6-D20E-4BD5-A770-D7BC4B904A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6885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71AD-CE78-4291-AD8E-EF03F9EBAC03}" type="datetimeFigureOut">
              <a:rPr lang="en-IN" smtClean="0"/>
              <a:t>22-01-2024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DF1B6-D20E-4BD5-A770-D7BC4B904A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816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71AD-CE78-4291-AD8E-EF03F9EBAC03}" type="datetimeFigureOut">
              <a:rPr lang="en-IN" smtClean="0"/>
              <a:t>22-01-2024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DF1B6-D20E-4BD5-A770-D7BC4B904A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1284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71AD-CE78-4291-AD8E-EF03F9EBAC03}" type="datetimeFigureOut">
              <a:rPr lang="en-IN" smtClean="0"/>
              <a:t>22-01-2024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DF1B6-D20E-4BD5-A770-D7BC4B904A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2933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F71AD-CE78-4291-AD8E-EF03F9EBAC03}" type="datetimeFigureOut">
              <a:rPr lang="en-IN" smtClean="0"/>
              <a:t>22-01-2024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DF1B6-D20E-4BD5-A770-D7BC4B904A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633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44824"/>
            <a:ext cx="7772400" cy="1755626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Machine Learning Bootcamp </a:t>
            </a:r>
            <a:br>
              <a:rPr lang="en-IN" dirty="0" smtClean="0"/>
            </a:br>
            <a:r>
              <a:rPr lang="en-IN" dirty="0" smtClean="0"/>
              <a:t>Project Report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000" dirty="0" smtClean="0"/>
              <a:t>DILSHAD RAZA</a:t>
            </a:r>
          </a:p>
          <a:p>
            <a:r>
              <a:rPr lang="en-IN" sz="2000" dirty="0" smtClean="0"/>
              <a:t>23JE0574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25070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Linear Regression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IN" sz="1800" dirty="0" smtClean="0"/>
              <a:t>At first, I implemented gradient descent with multiple nested ‘for loops’ because of which my code was taking too much time to run.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chose the cost function to be Mean Squared Error.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Also, the first data set that was given to us contained many outliers which made it difficult for my model to get trained. I tried removing outliers by defining an outlier example as the one which has y_label &gt; (mean + 3*std_dev) or y_label &lt; (mean – 3*std_dev). 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Then the data set was changed for which my MSE cost saturated at close to 0.005.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My non-vectorized code was taking 3 minutes for 100 iterations.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vectorized my code and then it took 2 seconds for 1000 iterations.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As for learning rate I first chose 0.1, cost saturated after 120 iterations. Then I chose learning rate as 1 and then it saturated after 10 iteration only.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So I chose the value of learning rate as 1.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As I was getting 0.99999 as R2_score on cross-validation,  I used regularization parameter as 0.</a:t>
            </a:r>
          </a:p>
          <a:p>
            <a:pPr marL="0" indent="0">
              <a:buNone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804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9" t="15182" r="26667" b="12373"/>
          <a:stretch/>
        </p:blipFill>
        <p:spPr>
          <a:xfrm>
            <a:off x="1691680" y="260648"/>
            <a:ext cx="5750138" cy="4823016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1800" dirty="0" smtClean="0"/>
              <a:t>Graph of cost vs iterations.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515206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Polynomial Regression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800" dirty="0" smtClean="0"/>
              <a:t>Initially, I made my model with powers of only one example like (x1)^2, (x2)^1, (x3)^4 etc. My degree 5 model will include all the terms up until degree 5.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implemented gradient descent with nested ‘for’ loops because of which it was talking too much time initially.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My cost(MSE) was also coming very </a:t>
            </a:r>
            <a:r>
              <a:rPr lang="en-IN" sz="1800" dirty="0" smtClean="0"/>
              <a:t>very</a:t>
            </a:r>
            <a:r>
              <a:rPr lang="en-IN" sz="1800" dirty="0" smtClean="0"/>
              <a:t> high for degree 5 onwards (&gt;10^25).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then changed my model to one in which it has all the terms of a multinomial expansion. Ex:- (x1)^2*(x2)^3*(x3)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also vectorized my code as much as possible, in functions of cost and gradient, which reduced execution time significantly(67s for 1000 iterations of all 10 models upto degree 10 combined).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used the learning rate of 0.1 first, for which degree 10 overshooted. Then I used 0.08 which showed the same result. But for 0.05, it worked fine.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encountered errors of ‘shape not matched’ in taking dot products.</a:t>
            </a:r>
          </a:p>
          <a:p>
            <a:pPr marL="0" indent="0">
              <a:buNone/>
            </a:pPr>
            <a:endParaRPr lang="en-IN" sz="1800" dirty="0" smtClean="0"/>
          </a:p>
        </p:txBody>
      </p:sp>
    </p:spTree>
    <p:extLst>
      <p:ext uri="{BB962C8B-B14F-4D97-AF65-F5344CB8AC3E}">
        <p14:creationId xmlns:p14="http://schemas.microsoft.com/office/powerpoint/2010/main" val="1025900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3" t="29552" r="35168" b="9855"/>
          <a:stretch/>
        </p:blipFill>
        <p:spPr>
          <a:xfrm>
            <a:off x="899592" y="476672"/>
            <a:ext cx="7304652" cy="4149448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1800" dirty="0" smtClean="0"/>
              <a:t>Cost on training data after 1000 iterations and R2_score on CV data for models upto degree 10.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33609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</a:t>
            </a:r>
            <a:endParaRPr lang="en-IN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16" t="22738" r="34668" b="12818"/>
          <a:stretch/>
        </p:blipFill>
        <p:spPr>
          <a:xfrm>
            <a:off x="1547664" y="188640"/>
            <a:ext cx="6095199" cy="4812001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1800" dirty="0" smtClean="0"/>
              <a:t>This is the graph of logarithm of cost vs degree. We can see there is a sudden fall in cost for degree 6.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200188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228919"/>
            <a:ext cx="8291264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363272" cy="57214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800" dirty="0" smtClean="0"/>
              <a:t>From the previous graph, I concluded that the degree 6 fits the data just fine. 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attained the R2 score of 0.999 in cross validation set.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Since, I was getting good results on cross validation set, I didn’t include regularization parameter.</a:t>
            </a:r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59229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Logistic Regression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 smtClean="0"/>
              <a:t>Previous Code: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first implemented softmax regression as the task was of multi-class classification. Used categorical crossentropy</a:t>
            </a:r>
            <a:r>
              <a:rPr lang="en-IN" sz="1800" dirty="0"/>
              <a:t> </a:t>
            </a:r>
            <a:r>
              <a:rPr lang="en-IN" sz="1800" dirty="0" smtClean="0"/>
              <a:t>cost function.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vectorized my code only after mid-evaluation.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The non-vectorized implementation of softmax regression was taking 5 minutes 25 seconds to run for 500 iterations and I achieved R2 score of 0.965.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The cost saturated after 400 iterations for learning rate 0.02. I tried learning rate 0.1 first at which the cost was jumping, same goes for 0.05.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have comment out all the code of this implementation in my final code.</a:t>
            </a:r>
          </a:p>
          <a:p>
            <a:pPr marL="0" indent="0">
              <a:buNone/>
            </a:pPr>
            <a:r>
              <a:rPr lang="en-IN" sz="1800" b="1" dirty="0" smtClean="0"/>
              <a:t>Current Code: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was told to implement one vs all logistic regression.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My model works in a way that the first model would detect if an example belongs to a particular class or not and so on. So basically I made K number of models for K number of classes.</a:t>
            </a:r>
          </a:p>
          <a:p>
            <a:pPr>
              <a:buFont typeface="Wingdings" pitchFamily="2" charset="2"/>
              <a:buChar char="Ø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902767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19256" cy="528945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800" dirty="0" smtClean="0"/>
              <a:t>I scaled down the features by dividing with maximum value (255) just to overcome overflow.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did silly mistakes like not scaling down the cross validation set because of which the correct predictions I was getting was 0.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Since I was facing overshooting in soft-max regression I started with learning rate 0.02 for this model. Hence the learning was slow and I was getting less accuracy even for 500 iterations.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So I gradually increased my learning rate up untill 2 after which the results were more or less the same. For learning rate 2 and iterations 300, the accuracies are given in next slide. I concluded my learning rate as 2.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This implementation took 1 minute to run for 300 iterations.</a:t>
            </a:r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533825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5" t="37743" r="22987" b="20621"/>
          <a:stretch/>
        </p:blipFill>
        <p:spPr>
          <a:xfrm>
            <a:off x="1043608" y="1268760"/>
            <a:ext cx="7482206" cy="239305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804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K-Nearest Neighbours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800" dirty="0" smtClean="0"/>
              <a:t>My Previous Code: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Distance that I’m using is Euclidean distance.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calculated the distances of each test example with respect to each training example using loops and then took the indices of ‘K’ minimum distances.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For training data of size 5000 and test data of size 1000, it took 95 seconds to execute for just one value of K.</a:t>
            </a:r>
          </a:p>
          <a:p>
            <a:pPr marL="0" indent="0">
              <a:buNone/>
            </a:pPr>
            <a:r>
              <a:rPr lang="en-IN" sz="1800" dirty="0" smtClean="0"/>
              <a:t>My Current Code: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vectorized the function of computing distances of each test example with respect to each train example. 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implemented by first writing the expanded form of distance formula between two data points.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For training data of 25000 and test data of 5000, calculating the distances is taking close to 5 minutes, while for getting K nearest neighbours and predicting labels is taking 40 seconds for k=1 to k=50.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The accuracy was highest for K=1 and gradually decreased as K increased. I decided to keep the value of K as 1. 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was facing issue with how to find the indices of first k neighbours. I tried finding numpy methods for this, I found np.argpartition. </a:t>
            </a:r>
          </a:p>
          <a:p>
            <a:pPr>
              <a:buFont typeface="Wingdings" pitchFamily="2" charset="2"/>
              <a:buChar char="Ø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318960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Correct Predictions(out of 5000) vs K</a:t>
            </a:r>
            <a:endParaRPr lang="en-IN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3" t="10608" r="31438" b="4539"/>
          <a:stretch/>
        </p:blipFill>
        <p:spPr>
          <a:xfrm>
            <a:off x="1619672" y="1484784"/>
            <a:ext cx="5950044" cy="4509507"/>
          </a:xfrm>
        </p:spPr>
      </p:pic>
    </p:spTree>
    <p:extLst>
      <p:ext uri="{BB962C8B-B14F-4D97-AF65-F5344CB8AC3E}">
        <p14:creationId xmlns:p14="http://schemas.microsoft.com/office/powerpoint/2010/main" val="3373131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0"/>
            <a:ext cx="7704856" cy="404664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0872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800" dirty="0" smtClean="0"/>
              <a:t>For counting the frequencies of each class, I used np.bincount.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am getting accuracy of 98.4% on cross validation set.</a:t>
            </a:r>
          </a:p>
          <a:p>
            <a:pPr>
              <a:buFont typeface="Wingdings" pitchFamily="2" charset="2"/>
              <a:buChar char="Ø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68883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Neural Network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IN" sz="1800" dirty="0" smtClean="0"/>
              <a:t>I spent most of my project time in studying Neural Network’s functioning and implementing back-propagation.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tried looking for resources for Neural Networks and I came across a book ‘Neural Networks and Deep Learning’ by Michael Nielson.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read the first few chapters of this book, which covered fundamentals of back-propagation and optimization of neural networks. </a:t>
            </a:r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 marL="0" indent="0">
              <a:buNone/>
            </a:pPr>
            <a:r>
              <a:rPr lang="en-IN" sz="1800" b="1" dirty="0" smtClean="0"/>
              <a:t>My First Approach: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In my first approach, I made my neural architecture as [784, 50, 10]. I used sigmoid activation function for both hidden layers and last layer. Cost function as quadratic cost.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Why I chose quadratic cost?? Because at first I wanted to make the simplest model of neural network and then make changes gradually. This is also the reason why I chose activations of all layers as sigmoid. 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initialized my weights and biases randomly with gaussian distribution with mean to be 0 and standard deviation to be 1. I used mini-batch gradient descent with a batch size of 10.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At that time, I back-propagated only one example at a time, because of which it was taking much time to run. (30 minutes for 10 epoch, with training data of 25000). I achieved accuracy of 0.944(on cross validation data of size 5000) with this model.</a:t>
            </a:r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 marL="0" indent="0">
              <a:buNone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28176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01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 smtClean="0"/>
              <a:t>Second Approach</a:t>
            </a:r>
            <a:endParaRPr lang="en-IN" sz="1800" b="1" dirty="0"/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</a:t>
            </a:r>
            <a:r>
              <a:rPr lang="en-IN" sz="1800" dirty="0"/>
              <a:t>changed my activation for hidden layers to ReLU, and softmax for output layer</a:t>
            </a:r>
            <a:r>
              <a:rPr lang="en-IN" sz="1800" dirty="0" smtClean="0"/>
              <a:t>. My cost function as categorical crossentropy.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vectorized my back-propagation which significantly decreased the time taken to execute.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At first, I didn’t scaled down the features and hence I encountered the error (</a:t>
            </a:r>
            <a:r>
              <a:rPr lang="en-US" sz="1800" dirty="0" smtClean="0"/>
              <a:t>RuntimeWarning</a:t>
            </a:r>
            <a:r>
              <a:rPr lang="en-US" sz="1800" dirty="0"/>
              <a:t>: invalid value encountered in </a:t>
            </a:r>
            <a:r>
              <a:rPr lang="en-US" sz="1800" dirty="0" smtClean="0"/>
              <a:t>divide)</a:t>
            </a:r>
            <a:r>
              <a:rPr lang="en-IN" sz="1800" dirty="0"/>
              <a:t>.</a:t>
            </a:r>
            <a:r>
              <a:rPr lang="en-IN" sz="1800" dirty="0" smtClean="0"/>
              <a:t> So I scaled down the value of features by a factor of 255. Then it encountered overflow, so in softmax function before taking exponentials of z I subtracted the maximum value of z.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didn’t experiment much in the architecture of neural network for the first model. But for this one, I tried changing the number of neurons in the hidden layer to 20, 25, 30, 35, 40. But I got the best result for 30 neurons in the only hidden layer.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also tried adding more hidden layers(such as [784, 30, 20, 10]) but it was giving less accuracy.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/>
              <a:t>I first initialized my weights, biases with normal distribution and then switched to He initialization and I achieved convergence at fewer epochs(14-15</a:t>
            </a:r>
            <a:r>
              <a:rPr lang="en-IN" sz="1800" dirty="0" smtClean="0"/>
              <a:t>).</a:t>
            </a:r>
            <a:endParaRPr lang="en-IN" sz="1800" dirty="0"/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also studied about the derivation of He’s initialization.</a:t>
            </a:r>
          </a:p>
          <a:p>
            <a:pPr marL="0" indent="0">
              <a:buNone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69737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1143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363272" cy="521744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800" dirty="0" smtClean="0"/>
              <a:t>I also tried experimenting with batch size, I got the best result for batch size of 10.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As for learning rate, I first used 0.1 for which the accuracy was increasing gradually.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Then I tried 0.5 for which accuracy decreased, I got best result for learning rate of 0.2. So I concluded learning rate as 0.2.</a:t>
            </a:r>
          </a:p>
          <a:p>
            <a:pPr>
              <a:buFont typeface="Wingdings" pitchFamily="2" charset="2"/>
              <a:buChar char="Ø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03898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00" t="15182" r="11334" b="11780"/>
          <a:stretch/>
        </p:blipFill>
        <p:spPr>
          <a:xfrm>
            <a:off x="1043608" y="548680"/>
            <a:ext cx="7350948" cy="388843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7011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2" t="29021" r="55750" b="12494"/>
          <a:stretch/>
        </p:blipFill>
        <p:spPr>
          <a:xfrm>
            <a:off x="899592" y="116632"/>
            <a:ext cx="6245979" cy="5105406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Graph of correct accuracy vs epoch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85675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K-Means Clustering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800" dirty="0" smtClean="0"/>
              <a:t>I used </a:t>
            </a:r>
            <a:r>
              <a:rPr lang="en-IN" sz="1800" dirty="0"/>
              <a:t>E</a:t>
            </a:r>
            <a:r>
              <a:rPr lang="en-IN" sz="1800" dirty="0" smtClean="0"/>
              <a:t>uclidean distance for calculating distances between two points.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/>
              <a:t>I was calculating distances with loops first. Since the data-set that was given to me was not that big, it didn’t </a:t>
            </a:r>
            <a:r>
              <a:rPr lang="en-IN" sz="1800" dirty="0" smtClean="0"/>
              <a:t>take much time.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was able to vectorize the distances function by rewriting every term on my copy. 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normalized the data since the features were not in the same scale. So that each feature has equal contribution or importance in calculating distances. I used the    z-score normalization for this.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tried visualizing the data by plotting the data-points between any two feature but I didn’t get a hint at all about the number of clusters.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initialized the centroids by taking k random points as the centroids. I am initializing 10 times so that the initial centroids are chosen in 10 different ways. 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I used elbow method for determining the number of clusters. i.e plotting the mean distances of data points and assigned clusters with respect to different values of k.</a:t>
            </a:r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There was clear elbow at k=3. I concluded number of clusters as 3.</a:t>
            </a:r>
          </a:p>
          <a:p>
            <a:pPr>
              <a:buFont typeface="Wingdings" pitchFamily="2" charset="2"/>
              <a:buChar char="Ø"/>
            </a:pPr>
            <a:endParaRPr lang="en-IN" sz="1800" dirty="0"/>
          </a:p>
          <a:p>
            <a:pPr>
              <a:buFont typeface="Wingdings" pitchFamily="2" charset="2"/>
              <a:buChar char="Ø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465408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1" t="17208" r="32112" b="9904"/>
          <a:stretch/>
        </p:blipFill>
        <p:spPr>
          <a:xfrm>
            <a:off x="1547664" y="188640"/>
            <a:ext cx="5941939" cy="4625689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2000" dirty="0" smtClean="0"/>
              <a:t>Graph of cost vs k. We can notice that there is a clear elbow at k=3.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31582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Overall Changes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2000" dirty="0" smtClean="0"/>
              <a:t>At first I made different functions for different things. Then I combined everything into one class for every algorithm</a:t>
            </a:r>
            <a:r>
              <a:rPr lang="en-IN" sz="20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 smtClean="0"/>
              <a:t>I comment out all the previous codes of mine that I mentioned in my report.</a:t>
            </a:r>
            <a:endParaRPr lang="en-IN" sz="2000" dirty="0" smtClean="0"/>
          </a:p>
          <a:p>
            <a:pPr>
              <a:buFont typeface="Wingdings" pitchFamily="2" charset="2"/>
              <a:buChar char="Ø"/>
            </a:pPr>
            <a:r>
              <a:rPr lang="en-IN" sz="2000" dirty="0" smtClean="0"/>
              <a:t>I combined all the algorithms into one .py file whose name is mlbootcamp.</a:t>
            </a:r>
          </a:p>
          <a:p>
            <a:pPr>
              <a:buFont typeface="Wingdings" pitchFamily="2" charset="2"/>
              <a:buChar char="Ø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90948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3827</TotalTime>
  <Words>1787</Words>
  <Application>Microsoft Office PowerPoint</Application>
  <PresentationFormat>On-screen Show (4:3)</PresentationFormat>
  <Paragraphs>103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Machine Learning Bootcamp  Project Report </vt:lpstr>
      <vt:lpstr>Linear Regression</vt:lpstr>
      <vt:lpstr>PowerPoint Presentation</vt:lpstr>
      <vt:lpstr>Polynomial Regression</vt:lpstr>
      <vt:lpstr>PowerPoint Presentation</vt:lpstr>
      <vt:lpstr> </vt:lpstr>
      <vt:lpstr>PowerPoint Presentation</vt:lpstr>
      <vt:lpstr>Logistic Regression</vt:lpstr>
      <vt:lpstr>PowerPoint Presentation</vt:lpstr>
      <vt:lpstr>PowerPoint Presentation</vt:lpstr>
      <vt:lpstr>K-Nearest Neighbours</vt:lpstr>
      <vt:lpstr>Correct Predictions(out of 5000) vs K</vt:lpstr>
      <vt:lpstr>PowerPoint Presentation</vt:lpstr>
      <vt:lpstr>Neural Network</vt:lpstr>
      <vt:lpstr>PowerPoint Presentation</vt:lpstr>
      <vt:lpstr>PowerPoint Presentation</vt:lpstr>
      <vt:lpstr>PowerPoint Presentation</vt:lpstr>
      <vt:lpstr>PowerPoint Presentation</vt:lpstr>
      <vt:lpstr>K-Means Clustering</vt:lpstr>
      <vt:lpstr>PowerPoint Presentation</vt:lpstr>
      <vt:lpstr>Overall Changes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Bootcamp  Project Report</dc:title>
  <dc:creator>Dilshad Raza</dc:creator>
  <cp:lastModifiedBy>Dilshad Raza</cp:lastModifiedBy>
  <cp:revision>73</cp:revision>
  <dcterms:created xsi:type="dcterms:W3CDTF">2024-01-18T18:52:31Z</dcterms:created>
  <dcterms:modified xsi:type="dcterms:W3CDTF">2024-01-22T17:45:15Z</dcterms:modified>
</cp:coreProperties>
</file>